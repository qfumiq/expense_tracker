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Noto Sans Bold"/>
      <p:regular r:id="rId201314"/>
    </p:embeddedFont>
    <p:embeddedFont>
      <p:font typeface="Noto Sans ExtraBold"/>
      <p:regular r:id="rId201315"/>
    </p:embeddedFont>
    <p:embeddedFont>
      <p:font typeface="Noto Sans"/>
      <p:regular r:id="rId201316"/>
    </p:embeddedFont>
    <p:embeddedFont>
      <p:font typeface="Noto Sans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Трекер Расходов-ПИТ — практичный одностраничный инструмент для ежедневного учёта, анализа и планирования личных расходов.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 проекта — убрать инфраструктурную сложность. Пользователь получает понятный финансовый инструмент, а разработчик демонстрирует полноценное приложение на клиентской стороне.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Карточка расхода собирает всё, что понадобится позже для поиска и анализа. Контекст сохраняется сразу, поэтому не приходится восстанавливать детали по памяти.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Бюджет не прячется в настройках. Шкала превращает сумму в визуальный сигнал: зелёная зона показывает запас, жёлтая просит обратить внимание, а после 80% включается красное предупреждение.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Регулярные платежи — хороший пример функции, которая экономит время каждый день. Пользователь описывает сценарий один раз, выбирает периодичность, а дальше записи появляются автоматически.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Поиск работает сразу по нескольким измерениям. Можно быстро перейти к расходам за месяц, найти покупки с конкретным тегом или отсортировать список по сумме.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Статистика отвечает на практические вопросы пользователя: сколько потрачено, какой расход типичный, где находится максимум и как меняется картина от дня к месяцу.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вида диаграмм отвечают на разные задачи. Столбчатая помогает сравнить категории, круговая объясняет структуру общей суммы, а линейный график показывает динамику по дням.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строится вокруг браузера и локального хранилища. Нет сервера и внешних библиотек, но есть разделение ответственности: интерфейс реагирует на события, а данные сохраняются в localStorage.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финале важно показать не набор функций, а готовый пользовательский инструмент. Его можно использовать каждый день, развивать как учебный проект и применять для контроля, планирования и анализа расходов.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624681"/>
            <a:ext cx="548626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УЧЕБНЫЙ ПРОЕКТ · ПИТ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3552833"/>
            <a:ext cx="4978275" cy="2383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ТРЕКЕР</a:t>
            </a:r>
            <a:endParaRPr lang="en-US" sz="6800" dirty="0"/>
          </a:p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РАСХОДОВ-ПИТ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609585" y="6040497"/>
            <a:ext cx="548626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Личный контроль расходов в браузере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92772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243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01 · КОНЦЕПЦИЯ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615633"/>
            <a:ext cx="10972526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ЛИЧНЫЙ ФИНАНСОВЫЙ КОНТРОЛЬ БЕЗ СЕРВЕРА И ЛИШНЕЙ СЛОЖНОСТИ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07987" y="2808049"/>
            <a:ext cx="1117572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Инструмент для ежедневного учёта: открыть браузер, записать расход и увидеть состояние бюджета.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7987" y="3589933"/>
            <a:ext cx="3521979" cy="2387501"/>
          </a:xfrm>
          <a:prstGeom prst="rect">
            <a:avLst/>
          </a:prstGeom>
          <a:solidFill>
            <a:srgbClr val="16171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582" y="3818533"/>
            <a:ext cx="457189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6582" y="4428641"/>
            <a:ext cx="306479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Ежедневный учёт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6582" y="4905296"/>
            <a:ext cx="306479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Одностраничное приложение для фиксации расходов без лишних экранов.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334759" y="3589933"/>
            <a:ext cx="3522078" cy="2387501"/>
          </a:xfrm>
          <a:prstGeom prst="rect">
            <a:avLst/>
          </a:prstGeom>
          <a:solidFill>
            <a:srgbClr val="16171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353" y="3818533"/>
            <a:ext cx="457189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3353" y="4428641"/>
            <a:ext cx="30648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Проект ПИТ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563353" y="4905296"/>
            <a:ext cx="306489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Разработано студентом группы ПИТ, г. Назрань.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161629" y="3589933"/>
            <a:ext cx="3522078" cy="2387501"/>
          </a:xfrm>
          <a:prstGeom prst="rect">
            <a:avLst/>
          </a:prstGeom>
          <a:solidFill>
            <a:srgbClr val="16171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224" y="3818533"/>
            <a:ext cx="457189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90224" y="4428641"/>
            <a:ext cx="3064890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Локальная работа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8390224" y="4905296"/>
            <a:ext cx="306489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Работает полностью в браузере и сохраняет данные локально.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09584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3036" y="523081"/>
            <a:ext cx="563865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02 · ЗАПИСЬ РАСХОДА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553036" y="895033"/>
            <a:ext cx="5029074" cy="173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ОДИН РАСХОД — ВСЕ НУЖНЫЕ ДЕТАЛИ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6553036" y="2721372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88962" y="2816622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11822" y="2775664"/>
            <a:ext cx="447028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Описание, сумма, категория, дата и валюта.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53036" y="3559572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88962" y="3654822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11822" y="3613864"/>
            <a:ext cx="44702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Теги и комментарий сохраняют контекст покупки.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553036" y="4630142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88962" y="4725392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11822" y="4684435"/>
            <a:ext cx="447028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Поддерживаются ₽, $, €, £ и ¥.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53036" y="5468342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88962" y="5563592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11822" y="5522635"/>
            <a:ext cx="4470288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Расход можно редактировать, удалить или отметить как важный.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553036" y="3324622"/>
            <a:ext cx="5029074" cy="127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18" name="Shape 15"/>
          <p:cNvSpPr/>
          <p:nvPr/>
        </p:nvSpPr>
        <p:spPr>
          <a:xfrm>
            <a:off x="6553036" y="4395192"/>
            <a:ext cx="5029074" cy="12700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19" name="Shape 16"/>
          <p:cNvSpPr/>
          <p:nvPr/>
        </p:nvSpPr>
        <p:spPr>
          <a:xfrm>
            <a:off x="6553036" y="5233392"/>
            <a:ext cx="5029074" cy="12700"/>
          </a:xfrm>
          <a:prstGeom prst="rect">
            <a:avLst/>
          </a:prstGeom>
          <a:solidFill>
            <a:srgbClr val="16171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859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1955483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БЮДЖЕТ ПРЕВРАЩАЕТСЯ В ПОНЯТНЫЙ СИГНАЛ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09585" y="3264059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Пользователь задаёт месячный лимит, а приложение показывает текущую нагрузку без сложных расчётов.</a:t>
            </a:r>
            <a:endParaRPr lang="en-US" sz="18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4071342"/>
            <a:ext cx="10972526" cy="7741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585" y="5065474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4E50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Уведомления предупреждают о приближении к пределу.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46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03 · АВТОМАТИЗАЦИЯ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96633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РЕГУЛЯРНЫЕ РАСХОДЫ НЕ НУЖНО ВНОСИТЬ ВРУЧНУЮ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305209"/>
            <a:ext cx="10972526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Один сценарий заменяет повторяющийся ввод и освобождает внимание для более важных решений.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36966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1041" y="3464917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5" y="3842147"/>
            <a:ext cx="3454314" cy="1905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8" name="Text 6"/>
          <p:cNvSpPr/>
          <p:nvPr/>
        </p:nvSpPr>
        <p:spPr>
          <a:xfrm>
            <a:off x="609585" y="4058555"/>
            <a:ext cx="345431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Создать шаблон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09585" y="4535210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Сохранить повторяющийся платёж с нужными деталями.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68691" y="336966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0147" y="3464917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68691" y="3842147"/>
            <a:ext cx="3454314" cy="1905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13" name="Text 11"/>
          <p:cNvSpPr/>
          <p:nvPr/>
        </p:nvSpPr>
        <p:spPr>
          <a:xfrm>
            <a:off x="4368691" y="4058555"/>
            <a:ext cx="345431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Выбрать расписание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68691" y="4535210"/>
            <a:ext cx="345431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Настроить период: ежедневно, еженедельно или ежемесячно.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7797" y="3141067"/>
            <a:ext cx="3454314" cy="2787551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16" name="Shape 14"/>
          <p:cNvSpPr/>
          <p:nvPr/>
        </p:nvSpPr>
        <p:spPr>
          <a:xfrm>
            <a:off x="8356391" y="336966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37848" y="3464917"/>
            <a:ext cx="82756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356391" y="3842147"/>
            <a:ext cx="2997125" cy="1905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19" name="Text 17"/>
          <p:cNvSpPr/>
          <p:nvPr/>
        </p:nvSpPr>
        <p:spPr>
          <a:xfrm>
            <a:off x="8356391" y="4058555"/>
            <a:ext cx="2997125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Получать записи автоматически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56391" y="4856480"/>
            <a:ext cx="299712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Приложение добавляет расходы по заданному сценарию.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828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294481"/>
            <a:ext cx="1173450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04 · ПОИСК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189" y="645478"/>
            <a:ext cx="11277318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3600" spc="18" kern="1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ФИЛЬТРЫ ПОМОГАЮТ БЫСТРО НАЙТИ НУЖНУЮ ТРАТУ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0" y="2387501"/>
            <a:ext cx="5943451" cy="2082998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94" y="2641501"/>
            <a:ext cx="457189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3994" y="3324634"/>
            <a:ext cx="543546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Сузить список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53994" y="3801289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Категория, поиск, теги и диапазон дат.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48244" y="2387501"/>
            <a:ext cx="5943451" cy="2082998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237" y="2641501"/>
            <a:ext cx="457189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02237" y="3324634"/>
            <a:ext cx="543546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Выбрать период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502237" y="3801289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Быстрые периоды: сегодня, неделя, месяц.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0" y="4775200"/>
            <a:ext cx="5943451" cy="2082800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4" y="5029200"/>
            <a:ext cx="457189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3994" y="5712333"/>
            <a:ext cx="543546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Оставить важное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253994" y="6188988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Фильтрация по важности.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6248244" y="4775200"/>
            <a:ext cx="5943451" cy="2082800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237" y="5029200"/>
            <a:ext cx="457189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02237" y="5712333"/>
            <a:ext cx="5435464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Перестроить порядок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6502237" y="6188988"/>
            <a:ext cx="568945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Сортировка по дате, сумме и категории.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4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05 · АНАЛИТИКА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20433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СТАТИСТИКА ОТВЕЧАЕТ НА ГЛАВНЫЕ ВОПРОСЫ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22900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Сводка переводит длинный список операций в несколько ориентиров для принятия решений.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690912"/>
            <a:ext cx="2743131" cy="3481884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3130459"/>
            <a:ext cx="2158946" cy="794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68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Σ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38179" y="3943064"/>
            <a:ext cx="215894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Общая сумма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38179" y="4419719"/>
            <a:ext cx="215894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Сколько потрачено за выбранный период.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708307" y="3143413"/>
            <a:ext cx="2031949" cy="7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68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Ø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3708307" y="3891272"/>
            <a:ext cx="203194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Средний расход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08307" y="4689197"/>
            <a:ext cx="203194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 выглядит типичная трата.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51439" y="3143413"/>
            <a:ext cx="2031949" cy="7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68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↑↓</a:t>
            </a:r>
            <a:endParaRPr lang="en-US" sz="6800" dirty="0"/>
          </a:p>
        </p:txBody>
      </p:sp>
      <p:sp>
        <p:nvSpPr>
          <p:cNvPr id="13" name="Text 11"/>
          <p:cNvSpPr/>
          <p:nvPr/>
        </p:nvSpPr>
        <p:spPr>
          <a:xfrm>
            <a:off x="6451439" y="3891272"/>
            <a:ext cx="2031949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Максимум и минимум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51439" y="4689197"/>
            <a:ext cx="2031949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Какая покупка оказалась самой крупной или небольшой.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94570" y="3143413"/>
            <a:ext cx="2387540" cy="74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68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3×</a:t>
            </a:r>
            <a:endParaRPr lang="en-US" sz="6800" dirty="0"/>
          </a:p>
        </p:txBody>
      </p:sp>
      <p:sp>
        <p:nvSpPr>
          <p:cNvPr id="16" name="Text 14"/>
          <p:cNvSpPr/>
          <p:nvPr/>
        </p:nvSpPr>
        <p:spPr>
          <a:xfrm>
            <a:off x="9194570" y="3891272"/>
            <a:ext cx="2387540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Сравнение периодов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194570" y="4689197"/>
            <a:ext cx="2387540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Сегодня, неделя и месяц в одном представлении.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585" y="6392823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7" kern="100" dirty="0">
                <a:solidFill>
                  <a:srgbClr val="4E505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Количество категорий показывает, насколько разнообразна структура расходов.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46366" y="2690912"/>
            <a:ext cx="12700" cy="3481884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9498" y="2690912"/>
            <a:ext cx="12700" cy="3481884"/>
          </a:xfrm>
          <a:prstGeom prst="rect">
            <a:avLst/>
          </a:prstGeom>
          <a:solidFill>
            <a:srgbClr val="16171D"/>
          </a:solidFill>
          <a:ln/>
        </p:spPr>
      </p:sp>
      <p:sp>
        <p:nvSpPr>
          <p:cNvPr id="21" name="Shape 19"/>
          <p:cNvSpPr/>
          <p:nvPr/>
        </p:nvSpPr>
        <p:spPr>
          <a:xfrm>
            <a:off x="8832629" y="2690912"/>
            <a:ext cx="12700" cy="3481884"/>
          </a:xfrm>
          <a:prstGeom prst="rect">
            <a:avLst/>
          </a:prstGeom>
          <a:solidFill>
            <a:srgbClr val="16171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714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2184083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ДИАГРАММЫ ПОКАЗЫВАЮТ СТРУКТУРУ РАСХОДОВ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09585" y="3482181"/>
            <a:ext cx="3454314" cy="2153841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78" y="3736181"/>
            <a:ext cx="457189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3578" y="4346289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Столбчатая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863578" y="4822944"/>
            <a:ext cx="29463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Сравнивает категории между собой.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368691" y="3482181"/>
            <a:ext cx="3454314" cy="2153841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684" y="3736181"/>
            <a:ext cx="457189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22684" y="4346289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Круговая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622684" y="4822944"/>
            <a:ext cx="29463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Показывает доли категорий в общей сумме.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127797" y="3482181"/>
            <a:ext cx="3454314" cy="2153841"/>
          </a:xfrm>
          <a:prstGeom prst="rect">
            <a:avLst/>
          </a:prstGeom>
          <a:solidFill>
            <a:srgbClr val="16171D"/>
          </a:solidFill>
          <a:ln w="25399">
            <a:solidFill>
              <a:srgbClr val="D5D3CA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790" y="3736181"/>
            <a:ext cx="457189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81790" y="4346289"/>
            <a:ext cx="294632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Линейная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81790" y="4822944"/>
            <a:ext cx="2946326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Отслеживает динамику расходов по дням на Canvas.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48481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16171D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06 · АРХИТЕКТУРА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20433"/>
            <a:ext cx="10972526" cy="1158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16171D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АВТОНОМНОСТЬ — ЧАСТЬ ПОЛЬЗОВАТЕЛЬСКОГО ОПЫТА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585" y="2229009"/>
            <a:ext cx="1158211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Приложение остаётся быстрым, понятным и доступным без внешней инфраструктуры.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2744887"/>
            <a:ext cx="2925987" cy="3681313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628" y="299253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8554" y="3087787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2628" y="3570895"/>
            <a:ext cx="237990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Браузер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82628" y="4047549"/>
            <a:ext cx="2379901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Чистый HTML, CSS и JavaScript без внешних библиотек.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69841" y="2983964"/>
            <a:ext cx="66296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632804" y="2744887"/>
            <a:ext cx="2925987" cy="3681313"/>
          </a:xfrm>
          <a:prstGeom prst="rect">
            <a:avLst/>
          </a:prstGeom>
          <a:noFill/>
          <a:ln w="19050">
            <a:solidFill>
              <a:srgbClr val="1617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5848" y="299253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41774" y="3087787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05848" y="3570895"/>
            <a:ext cx="2379901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16171D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localStorage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05848" y="4047549"/>
            <a:ext cx="2379901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Расходы, бюджет, категории, валюта, тема и шаблоны хранятся локально.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993061" y="2983964"/>
            <a:ext cx="662963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6171D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56024" y="2744887"/>
            <a:ext cx="2926086" cy="3681313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18" name="Shape 16"/>
          <p:cNvSpPr/>
          <p:nvPr/>
        </p:nvSpPr>
        <p:spPr>
          <a:xfrm>
            <a:off x="8910018" y="2973487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45944" y="3068737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910018" y="3551845"/>
            <a:ext cx="2418099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200" b="1" spc="-11" kern="100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Интерфейс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10018" y="4028499"/>
            <a:ext cx="2418099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IIFE-модуль, события и адаптивная вёрстка поддерживают понятную работу на мобильных устройствах.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FF8424"/>
          </a:solidFill>
          <a:ln/>
        </p:spPr>
      </p:sp>
      <p:sp>
        <p:nvSpPr>
          <p:cNvPr id="3" name="Text 1"/>
          <p:cNvSpPr/>
          <p:nvPr/>
        </p:nvSpPr>
        <p:spPr>
          <a:xfrm>
            <a:off x="609585" y="573881"/>
            <a:ext cx="5486263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spc="13" kern="100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ФИНАЛЬНЫЙ СЦЕНАРИЙ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945833"/>
            <a:ext cx="4978275" cy="2895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9000"/>
              </a:lnSpc>
              <a:buNone/>
            </a:pPr>
            <a:r>
              <a:rPr lang="en-US" sz="4800" spc="24" kern="100" dirty="0">
                <a:solidFill>
                  <a:srgbClr val="000000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ГОТОВЫЙ ИНСТРУМЕНТ ДЛЯ ЖИЗНИ И УЧЕБНОГО ПРОЕКТА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609585" y="3951089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511" y="4046339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68371" y="4005381"/>
            <a:ext cx="441948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Экспорт в JSON и CSV, импорт из JSON.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585" y="4484489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511" y="4579739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8371" y="4538781"/>
            <a:ext cx="44194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Тёмная и светлая тема с сохранением выбора.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585" y="5250259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511" y="5345509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8371" y="5304552"/>
            <a:ext cx="44194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Toast-уведомления и короткий звуковой сигнал при добавлении расхода.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6016030"/>
            <a:ext cx="380990" cy="381000"/>
          </a:xfrm>
          <a:prstGeom prst="ellipse">
            <a:avLst/>
          </a:prstGeom>
          <a:solidFill>
            <a:srgbClr val="16171D"/>
          </a:solidFill>
          <a:ln w="6350">
            <a:solidFill>
              <a:srgbClr val="D5D3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511" y="6111280"/>
            <a:ext cx="71862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68371" y="6070322"/>
            <a:ext cx="4419489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Повседневный контроль, планирование бюджета и анализ трат.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48" y="0"/>
            <a:ext cx="609584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2026-10-13T08:25:29Z</dcterms:created>
  <dcterms:modified xsi:type="dcterms:W3CDTF">2026-10-13T08:25:29Z</dcterms:modified>
</cp:coreProperties>
</file>